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2C54"/>
            </a:gs>
            <a:gs pos="100000">
              <a:srgbClr val="194B96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914400"/>
            <a:ext cx="2743200" cy="27432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4572000"/>
            <a:ext cx="2286000" cy="228600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Playwright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00BCD4"/>
                </a:solidFill>
              </a:defRPr>
            </a:pPr>
            <a:r>
              <a:rPr lang="en-US"/>
              <a:t>Cinema Booking Platform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43200" y="2103120"/>
            <a:ext cx="36576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Framework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🎯 </a:t>
            </a:r>
            <a:r>
              <a:rPr lang="en-US"/>
              <a:t>  </a:t>
            </a:r>
            <a:r>
              <a:t>Comprehensive end-to-end testing framework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🎬 </a:t>
            </a:r>
            <a:r>
              <a:rPr lang="en-US"/>
              <a:t>  </a:t>
            </a:r>
            <a:r>
              <a:t>Built for movie ticket booking platform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🏗</a:t>
            </a:r>
            <a:r>
              <a:rPr lang="en-US"/>
              <a:t>   </a:t>
            </a:r>
            <a:r>
              <a:t>Follows enterprise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⚡ </a:t>
            </a:r>
            <a:r>
              <a:rPr lang="en-US"/>
              <a:t>  </a:t>
            </a:r>
            <a:r>
              <a:t>Scalable, maintainable, and efficient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👥 </a:t>
            </a:r>
            <a:r>
              <a:rPr lang="en-US"/>
              <a:t>  </a:t>
            </a:r>
            <a:r>
              <a:t>Supports cross-browser and parallel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✓ Playwright 1.58.2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✓ TypeScript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✓ Node.js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✓ Allure Reporting</a:t>
            </a:r>
            <a:endParaRPr sz="1800"/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84048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✓ Faker.js (Test Data Generation)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✓ ESM Modules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✓ Dotenv (Environment Config)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✓ Cross-Browser Support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Browser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🌐 </a:t>
            </a:r>
            <a:r>
              <a:rPr lang="en-US"/>
              <a:t> </a:t>
            </a:r>
            <a:r>
              <a:t>Chromium - Fastest, production-ready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🔥 </a:t>
            </a:r>
            <a:r>
              <a:rPr lang="en-US"/>
              <a:t> </a:t>
            </a:r>
            <a:r>
              <a:t>Firefox - Security &amp; standards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📱 </a:t>
            </a:r>
            <a:r>
              <a:rPr lang="en-US"/>
              <a:t> </a:t>
            </a:r>
            <a:r>
              <a:t>WebKit - Mobile browser simulation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⏱</a:t>
            </a:r>
            <a:r>
              <a:rPr lang="en-US"/>
              <a:t>  </a:t>
            </a:r>
            <a:r>
              <a:t>Parallel execution across all browsers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🔄 </a:t>
            </a:r>
            <a:r>
              <a:rPr lang="en-US"/>
              <a:t>  </a:t>
            </a:r>
            <a:r>
              <a:t>Consistent behavior across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gradFill rotWithShape="1">
            <a:gsLst>
              <a:gs pos="0">
                <a:srgbClr val="4696DC"/>
              </a:gs>
              <a:gs pos="100000">
                <a:srgbClr val="64AAE6"/>
              </a:gs>
            </a:gsLst>
            <a:lin scaled="0"/>
          </a:gradFill>
          <a:ln w="25400"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731520" y="1417320"/>
            <a:ext cx="9645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/>
              <a:t>API Layer</a:t>
            </a:r>
            <a:endParaRPr sz="1600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2743200" y="1463040"/>
            <a:ext cx="566928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rPr sz="1600"/>
              <a:t>Functions &amp; types for API data</a:t>
            </a:r>
            <a:endParaRPr sz="1600"/>
          </a:p>
          <a:p>
            <a:r>
              <a:t>cinemas, movies, booking,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gradFill rotWithShape="1">
            <a:gsLst>
              <a:gs pos="0">
                <a:srgbClr val="4696DC"/>
              </a:gs>
              <a:gs pos="100000">
                <a:srgbClr val="64AAE6"/>
              </a:gs>
            </a:gsLst>
            <a:lin scaled="0"/>
          </a:gradFill>
          <a:ln w="25400"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731520" y="2331720"/>
            <a:ext cx="85280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/>
              <a:t>Fixtures</a:t>
            </a:r>
            <a:endParaRPr sz="1600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2743200" y="2377440"/>
            <a:ext cx="566928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rPr sz="1600"/>
              <a:t>Custom Playwright page fixtures</a:t>
            </a:r>
            <a:endParaRPr sz="1600"/>
          </a:p>
          <a:p>
            <a:r>
              <a:t>Pre-configured test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gradFill rotWithShape="1">
            <a:gsLst>
              <a:gs pos="0">
                <a:srgbClr val="4696DC"/>
              </a:gs>
              <a:gs pos="100000">
                <a:srgbClr val="64AAE6"/>
              </a:gs>
            </a:gsLst>
            <a:lin scaled="0"/>
          </a:gradFill>
          <a:ln w="25400"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731520" y="3246120"/>
            <a:ext cx="66421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/>
              <a:t>Pages</a:t>
            </a:r>
            <a:endParaRPr sz="1600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2743200" y="3291840"/>
            <a:ext cx="566928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rPr sz="1600"/>
              <a:t>Page Object Model classes</a:t>
            </a:r>
            <a:endParaRPr sz="1600"/>
          </a:p>
          <a:p>
            <a:r>
              <a:t>BasePage, Forms,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gradFill rotWithShape="1">
            <a:gsLst>
              <a:gs pos="0">
                <a:srgbClr val="4696DC"/>
              </a:gs>
              <a:gs pos="100000">
                <a:srgbClr val="64AAE6"/>
              </a:gs>
            </a:gsLst>
            <a:lin scaled="0"/>
          </a:gradFill>
          <a:ln w="25400"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731520" y="4160520"/>
            <a:ext cx="59817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/>
              <a:t>Tests</a:t>
            </a:r>
            <a:endParaRPr sz="1600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2743200" y="4206240"/>
            <a:ext cx="566928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rPr sz="1600"/>
              <a:t>Feature-based test organization</a:t>
            </a:r>
            <a:endParaRPr sz="1600"/>
          </a:p>
          <a:p>
            <a:r>
              <a:t>Auth, booking, account,</a:t>
            </a:r>
            <a:r>
              <a:rPr lang="en-US"/>
              <a:t> moives, responsive</a:t>
            </a:r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gradFill rotWithShape="1">
            <a:gsLst>
              <a:gs pos="0">
                <a:srgbClr val="4696DC"/>
              </a:gs>
              <a:gs pos="100000">
                <a:srgbClr val="64AAE6"/>
              </a:gs>
            </a:gsLst>
            <a:lin scaled="0"/>
          </a:gradFill>
          <a:ln w="25400">
            <a:solidFill>
              <a:srgbClr val="19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731520" y="5074920"/>
            <a:ext cx="101346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600"/>
              <a:t>Reporting</a:t>
            </a:r>
            <a:endParaRPr sz="1600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2743200" y="5120640"/>
            <a:ext cx="566928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rPr sz="1600"/>
              <a:t>Allure integration</a:t>
            </a:r>
            <a:endParaRPr sz="1600"/>
          </a:p>
          <a:p>
            <a:r>
              <a:t>Visual test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✅ Page Object Model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✅ Fixture Presets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✅ Parallel Execution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✅ Data Generators</a:t>
            </a:r>
            <a:endParaRPr sz="1800"/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84048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✅ Environment Config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✅ Allure Reporting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✅ Screenshot Capture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✅ Multiple Browsers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Test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📁 </a:t>
            </a:r>
            <a:r>
              <a:rPr lang="en-US"/>
              <a:t> </a:t>
            </a:r>
            <a:r>
              <a:t>auth/ - Authentication &amp; login tests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📁 </a:t>
            </a:r>
            <a:r>
              <a:rPr lang="en-US"/>
              <a:t> </a:t>
            </a:r>
            <a:r>
              <a:t>booking/ - Ticket booking workflows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📁 </a:t>
            </a:r>
            <a:r>
              <a:rPr lang="en-US"/>
              <a:t> </a:t>
            </a:r>
            <a:r>
              <a:t>cinemas/ - Cinema information &amp; filtering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📁 </a:t>
            </a:r>
            <a:r>
              <a:rPr lang="en-US"/>
              <a:t> </a:t>
            </a:r>
            <a:r>
              <a:t>account/ - User account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📁 </a:t>
            </a:r>
            <a:r>
              <a:rPr lang="en-US"/>
              <a:t> </a:t>
            </a:r>
            <a:r>
              <a:t>responsive/ - Mobile &amp; responsive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Test Execution Commands</a:t>
            </a:r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731520" y="1371600"/>
            <a:ext cx="14630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Courier New" panose="02070309020205020404"/>
              </a:defRPr>
            </a:pPr>
            <a:r>
              <a:rPr sz="1400"/>
              <a:t>npm run test</a:t>
            </a:r>
            <a:endParaRPr sz="1400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3200400" y="1371600"/>
            <a:ext cx="5212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457200">
              <a:defRPr sz="1200">
                <a:solidFill>
                  <a:srgbClr val="3C3C3C"/>
                </a:solidFill>
              </a:defRPr>
            </a:pPr>
            <a:r>
              <a:rPr sz="1400"/>
              <a:t>Run all tests in headless mode</a:t>
            </a:r>
            <a:endParaRPr sz="140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731520" y="1783080"/>
            <a:ext cx="17830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Courier New" panose="02070309020205020404"/>
              </a:defRPr>
            </a:pPr>
            <a:r>
              <a:rPr sz="1400"/>
              <a:t>npm run test:ui</a:t>
            </a:r>
            <a:endParaRPr sz="1400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3200400" y="1783080"/>
            <a:ext cx="5212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457200">
              <a:defRPr sz="1200">
                <a:solidFill>
                  <a:srgbClr val="3C3C3C"/>
                </a:solidFill>
              </a:defRPr>
            </a:pPr>
            <a:r>
              <a:rPr sz="1400"/>
              <a:t>Interactive UI mode</a:t>
            </a:r>
            <a:endParaRPr sz="1400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731520" y="2194560"/>
            <a:ext cx="22098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Courier New" panose="02070309020205020404"/>
              </a:defRPr>
            </a:pPr>
            <a:r>
              <a:rPr sz="1400"/>
              <a:t>npm run test:headed</a:t>
            </a:r>
            <a:endParaRPr sz="1400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3200400" y="2194560"/>
            <a:ext cx="5212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457200">
              <a:defRPr sz="1200">
                <a:solidFill>
                  <a:srgbClr val="3C3C3C"/>
                </a:solidFill>
              </a:defRPr>
            </a:pPr>
            <a:r>
              <a:rPr sz="1400"/>
              <a:t>Run with visible browser</a:t>
            </a:r>
            <a:endParaRPr sz="1400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731520" y="2606040"/>
            <a:ext cx="21031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Courier New" panose="02070309020205020404"/>
              </a:defRPr>
            </a:pPr>
            <a:r>
              <a:rPr sz="1400"/>
              <a:t>npm run test:debug</a:t>
            </a:r>
            <a:endParaRPr sz="1400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3200400" y="2606040"/>
            <a:ext cx="5212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457200">
              <a:defRPr sz="1200">
                <a:solidFill>
                  <a:srgbClr val="3C3C3C"/>
                </a:solidFill>
              </a:defRPr>
            </a:pPr>
            <a:r>
              <a:rPr sz="1400"/>
              <a:t>Debug mode with inspector</a:t>
            </a:r>
            <a:endParaRPr sz="1400"/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731520" y="3017520"/>
            <a:ext cx="22098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Courier New" panose="02070309020205020404"/>
              </a:defRPr>
            </a:pPr>
            <a:r>
              <a:rPr sz="1400"/>
              <a:t>npm run test:chrome</a:t>
            </a:r>
            <a:endParaRPr sz="1400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3200400" y="3017520"/>
            <a:ext cx="5212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457200">
              <a:defRPr sz="1200">
                <a:solidFill>
                  <a:srgbClr val="3C3C3C"/>
                </a:solidFill>
              </a:defRPr>
            </a:pPr>
            <a:r>
              <a:rPr sz="1400"/>
              <a:t>Run on Chromium only</a:t>
            </a:r>
            <a:endParaRPr sz="1400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731520" y="3429000"/>
            <a:ext cx="21031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Courier New" panose="02070309020205020404"/>
              </a:defRPr>
            </a:pPr>
            <a:r>
              <a:rPr sz="1400"/>
              <a:t>npm run test:smoke</a:t>
            </a:r>
            <a:endParaRPr sz="1400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3200400" y="3429000"/>
            <a:ext cx="5212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457200">
              <a:defRPr sz="1200">
                <a:solidFill>
                  <a:srgbClr val="3C3C3C"/>
                </a:solidFill>
              </a:defRPr>
            </a:pPr>
            <a:r>
              <a:rPr sz="1400"/>
              <a:t>Run smoke tests only (@smoke tag)</a:t>
            </a:r>
            <a:endParaRPr sz="1400"/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731520" y="3840480"/>
            <a:ext cx="26365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Courier New" panose="02070309020205020404"/>
              </a:defRPr>
            </a:pPr>
            <a:r>
              <a:rPr sz="1400"/>
              <a:t>npm run test:regression</a:t>
            </a:r>
            <a:endParaRPr sz="1400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3200400" y="3840480"/>
            <a:ext cx="5212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457200">
              <a:defRPr sz="1200">
                <a:solidFill>
                  <a:srgbClr val="3C3C3C"/>
                </a:solidFill>
              </a:defRPr>
            </a:pPr>
            <a:r>
              <a:rPr sz="1400"/>
              <a:t>Run regression tests (@regression tag)</a:t>
            </a:r>
            <a:endParaRPr sz="1400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731520" y="4251960"/>
            <a:ext cx="167640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Courier New" panose="02070309020205020404"/>
              </a:defRPr>
            </a:pPr>
            <a:r>
              <a:rPr sz="1400"/>
              <a:t>npm run report</a:t>
            </a:r>
            <a:endParaRPr sz="1400"/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3200400" y="4251960"/>
            <a:ext cx="52120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457200">
              <a:defRPr sz="1200">
                <a:solidFill>
                  <a:srgbClr val="3C3C3C"/>
                </a:solidFill>
              </a:defRPr>
            </a:pPr>
            <a:r>
              <a:rPr sz="1400"/>
              <a:t>View Allure test report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Page Object Model (POM)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📄 </a:t>
            </a:r>
            <a:r>
              <a:rPr lang="en-US"/>
              <a:t> </a:t>
            </a:r>
            <a:r>
              <a:t>BasePage - Reusable page actions &amp; locators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📄 </a:t>
            </a:r>
            <a:r>
              <a:rPr lang="en-US"/>
              <a:t> </a:t>
            </a:r>
            <a:r>
              <a:t>BaseForm - Common form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📄 </a:t>
            </a:r>
            <a:r>
              <a:rPr lang="en-US"/>
              <a:t> </a:t>
            </a:r>
            <a:r>
              <a:t>LoginPage, RegisterPage, AccountPage, etc.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📄 </a:t>
            </a:r>
            <a:r>
              <a:rPr lang="en-US"/>
              <a:t> </a:t>
            </a:r>
            <a:r>
              <a:t>Components - Reusable UI elements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🎯 </a:t>
            </a:r>
            <a:r>
              <a:rPr lang="en-US"/>
              <a:t> </a:t>
            </a:r>
            <a:r>
              <a:t>Benefits: Maintainability, Reusability, Scalability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Fixtures &amp; Pre-configured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🔧 </a:t>
            </a:r>
            <a:r>
              <a:rPr lang="en-US" sz="1800"/>
              <a:t> </a:t>
            </a:r>
            <a:r>
              <a:rPr sz="1800"/>
              <a:t>homePage fixture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🔧 </a:t>
            </a:r>
            <a:r>
              <a:rPr lang="en-US" sz="1800"/>
              <a:t> </a:t>
            </a:r>
            <a:r>
              <a:rPr sz="1800"/>
              <a:t>loginPage fixture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🔧 </a:t>
            </a:r>
            <a:r>
              <a:rPr lang="en-US" sz="1800"/>
              <a:t> </a:t>
            </a:r>
            <a:r>
              <a:rPr sz="1800"/>
              <a:t>registerPage fixture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🔧 </a:t>
            </a:r>
            <a:r>
              <a:rPr lang="en-US" sz="1800"/>
              <a:t> </a:t>
            </a:r>
            <a:r>
              <a:rPr sz="1800"/>
              <a:t>accountPage fixture</a:t>
            </a:r>
            <a:endParaRPr sz="1800"/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84048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🔑 </a:t>
            </a:r>
            <a:r>
              <a:rPr lang="en-US" sz="1800"/>
              <a:t> </a:t>
            </a:r>
            <a:r>
              <a:rPr sz="1800"/>
              <a:t>loggedInHomepage preset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🔑 </a:t>
            </a:r>
            <a:r>
              <a:rPr lang="en-US" sz="1800"/>
              <a:t> </a:t>
            </a:r>
            <a:r>
              <a:rPr sz="1800"/>
              <a:t>loggedInUser preset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🔑 </a:t>
            </a:r>
            <a:r>
              <a:rPr lang="en-US" sz="1800"/>
              <a:t> </a:t>
            </a:r>
            <a:r>
              <a:rPr sz="1800"/>
              <a:t>Pre-configured states</a:t>
            </a:r>
            <a:endParaRPr sz="1800"/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rPr sz="1800"/>
              <a:t>🔑 </a:t>
            </a:r>
            <a:r>
              <a:rPr lang="en-US" sz="1800"/>
              <a:t> </a:t>
            </a:r>
            <a:r>
              <a:rPr sz="1800"/>
              <a:t>Reduced setup code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BP: Using Fixtures Effectively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Use standard page fixtures for consistent initialization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Leverage loggedInHomepage for authenticated tests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Use apiClient fixture for direct API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Reduce boilerplate code with pre-configured states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Keep fixtures atomic and focused on single responsibility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BP: Page Object Model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Extend BasePage or BaseForm for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Group locators together at the top of class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Use getBy methods for readable element selection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Create methods for user actions, not just getters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Use appropriate timeouts (SHORT, DEFAULT, LONG)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✅ Avoid duplicating selectors across page objects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BP: API 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🌐 </a:t>
            </a:r>
            <a:r>
              <a:rPr lang="en-US"/>
              <a:t> </a:t>
            </a:r>
            <a:r>
              <a:t>Use ApiClient for consistent HTTP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🌐 </a:t>
            </a:r>
            <a:r>
              <a:rPr lang="en-US"/>
              <a:t> </a:t>
            </a:r>
            <a:r>
              <a:t>Set authorization tokens in beforeEach hooks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🌐 </a:t>
            </a:r>
            <a:r>
              <a:rPr lang="en-US"/>
              <a:t> </a:t>
            </a:r>
            <a:r>
              <a:t>Pass custom headers and timeout overrides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🌐 </a:t>
            </a:r>
            <a:r>
              <a:rPr lang="en-US"/>
              <a:t> </a:t>
            </a:r>
            <a:r>
              <a:t>Validate response status and data in same test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🌐 </a:t>
            </a:r>
            <a:r>
              <a:rPr lang="en-US"/>
              <a:t> </a:t>
            </a:r>
            <a:r>
              <a:t>Test API separately, then with UI for E2E 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BP: Writing Effective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7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📝 </a:t>
            </a:r>
            <a:r>
              <a:rPr lang="en-US"/>
              <a:t> </a:t>
            </a:r>
            <a:r>
              <a:t>Use descriptive test names that explain behavior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📝 </a:t>
            </a:r>
            <a:r>
              <a:rPr lang="en-US"/>
              <a:t> </a:t>
            </a:r>
            <a:r>
              <a:t>Organize tests with test.step() for clarity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📝 </a:t>
            </a:r>
            <a:r>
              <a:rPr lang="en-US"/>
              <a:t> </a:t>
            </a:r>
            <a:r>
              <a:t>Use soft assertions to catch multiple failures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📝 </a:t>
            </a:r>
            <a:r>
              <a:rPr lang="en-US"/>
              <a:t> </a:t>
            </a:r>
            <a:r>
              <a:t>Avoid hard waits - use proper element waits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📝 </a:t>
            </a:r>
            <a:r>
              <a:rPr lang="en-US"/>
              <a:t> </a:t>
            </a:r>
            <a:r>
              <a:t>Extract helper functions to reduce duplication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📝 </a:t>
            </a:r>
            <a:r>
              <a:rPr lang="en-US"/>
              <a:t> </a:t>
            </a:r>
            <a:r>
              <a:t>Tag tests (@smoke, @regression) for selective runs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BP: Performance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⚡ Use efficient selectors: ID, text, or data-testid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⚡ Avoid complex nested CSS selectors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⚡ Reuse fixtures to avoid repeated setup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⚡ Keep tests independent for parallel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⚡ Use appropriate timeouts (don't use arbitrary delays)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⚡ Optimize waits for loading spinners and async operations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BP: Debugging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7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🐛 </a:t>
            </a:r>
            <a:r>
              <a:rPr lang="en-US"/>
              <a:t> </a:t>
            </a:r>
            <a:r>
              <a:t>Use npm run test:debug for interactive debugging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🐛 </a:t>
            </a:r>
            <a:r>
              <a:rPr lang="en-US"/>
              <a:t> </a:t>
            </a:r>
            <a:r>
              <a:t>Review logs and screenshots in Allure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🐛 </a:t>
            </a:r>
            <a:r>
              <a:rPr lang="en-US"/>
              <a:t> </a:t>
            </a:r>
            <a:r>
              <a:t>Use page.pause() to pause test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🐛 </a:t>
            </a:r>
            <a:r>
              <a:rPr lang="en-US"/>
              <a:t> </a:t>
            </a:r>
            <a:r>
              <a:t>Capture screenshots on failures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🐛 </a:t>
            </a:r>
            <a:r>
              <a:rPr lang="en-US"/>
              <a:t> </a:t>
            </a:r>
            <a:r>
              <a:t>Use Playwright Inspector for DOM inspection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🐛 </a:t>
            </a:r>
            <a:r>
              <a:rPr lang="en-US"/>
              <a:t> </a:t>
            </a:r>
            <a:r>
              <a:t>Enable trace viewer for detailed test timeline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BP: Common Testing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29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🔄 </a:t>
            </a:r>
            <a:r>
              <a:rPr lang="en-US"/>
              <a:t> </a:t>
            </a:r>
            <a:r>
              <a:t>Pattern 1: Wait for loading spinner to appear &amp; disappear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🔄 </a:t>
            </a:r>
            <a:r>
              <a:rPr lang="en-US"/>
              <a:t> </a:t>
            </a:r>
            <a:r>
              <a:t>Pattern 2: Retry operations for dynamic content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🔄 </a:t>
            </a:r>
            <a:r>
              <a:rPr lang="en-US"/>
              <a:t> </a:t>
            </a:r>
            <a:r>
              <a:t>Pattern 3: Form submission with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🔄 </a:t>
            </a:r>
            <a:r>
              <a:rPr lang="en-US"/>
              <a:t> </a:t>
            </a:r>
            <a:r>
              <a:t>Pattern 4: Extract test data generators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b="0">
                <a:solidFill>
                  <a:srgbClr val="3C3C3C"/>
                </a:solidFill>
              </a:defRPr>
            </a:pPr>
            <a:r>
              <a:t>🔄 </a:t>
            </a:r>
            <a:r>
              <a:rPr lang="en-US"/>
              <a:t> </a:t>
            </a:r>
            <a:r>
              <a:t>Pattern 5: Use constants for timeouts &amp; selectors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Deployment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sz="1800"/>
              <a:t>🚀 </a:t>
            </a:r>
            <a:r>
              <a:rPr lang="en-US" sz="1800"/>
              <a:t> </a:t>
            </a:r>
            <a:r>
              <a:rPr sz="1800"/>
              <a:t>Parallel test execution for faster feedback</a:t>
            </a:r>
            <a:endParaRPr sz="1800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sz="1800"/>
              <a:t>⚙</a:t>
            </a:r>
            <a:r>
              <a:rPr lang="en-US" sz="1800"/>
              <a:t>  </a:t>
            </a:r>
            <a:r>
              <a:rPr sz="1800"/>
              <a:t>merge.config.ts for CI/CD optimization</a:t>
            </a:r>
            <a:endParaRPr sz="1800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6809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sz="1800"/>
              <a:t>🔄 </a:t>
            </a:r>
            <a:r>
              <a:rPr lang="en-US" sz="1800"/>
              <a:t> </a:t>
            </a:r>
            <a:r>
              <a:rPr sz="1800"/>
              <a:t>Sharding strategy for distributed testing</a:t>
            </a:r>
            <a:endParaRPr sz="1800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6809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sz="1800"/>
              <a:t>📊 </a:t>
            </a:r>
            <a:r>
              <a:rPr lang="en-US" sz="1800"/>
              <a:t> </a:t>
            </a:r>
            <a:r>
              <a:rPr sz="1800"/>
              <a:t>Automatic report generation</a:t>
            </a:r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76809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sz="1800"/>
              <a:t>🔗 </a:t>
            </a:r>
            <a:r>
              <a:rPr lang="en-US" sz="1800"/>
              <a:t> </a:t>
            </a:r>
            <a:r>
              <a:rPr sz="1800"/>
              <a:t>Integration ready for GitHub Actions, Jenkins, etc.</a:t>
            </a:r>
            <a:endParaRPr sz="1800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76809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rPr sz="1800"/>
              <a:t>🌍 </a:t>
            </a:r>
            <a:r>
              <a:rPr lang="en-US" sz="1800"/>
              <a:t> </a:t>
            </a:r>
            <a:r>
              <a:rPr sz="1800"/>
              <a:t>Cross-environment testing support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gradFill rotWithShape="1">
            <a:gsLst>
              <a:gs pos="0">
                <a:srgbClr val="194B96"/>
              </a:gs>
              <a:gs pos="100000">
                <a:srgbClr val="0C2C54"/>
              </a:gs>
            </a:gsLst>
            <a:lin scaled="0"/>
          </a:gra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27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AutoNum type="arabicPeriod"/>
              <a:defRPr sz="1800" b="0">
                <a:solidFill>
                  <a:srgbClr val="3C3C3C"/>
                </a:solidFill>
              </a:defRPr>
            </a:pPr>
            <a:r>
              <a:t>Clone the repository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AutoNum type="arabicPeriod"/>
              <a:defRPr sz="1800" b="0">
                <a:solidFill>
                  <a:srgbClr val="3C3C3C"/>
                </a:solidFill>
              </a:defRPr>
            </a:pPr>
            <a:r>
              <a:t>Install dependencies: npm install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AutoNum type="arabicPeriod"/>
              <a:defRPr sz="1800" b="0">
                <a:solidFill>
                  <a:srgbClr val="3C3C3C"/>
                </a:solidFill>
              </a:defRPr>
            </a:pPr>
            <a:r>
              <a:t>Configure environment: .env.qa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AutoNum type="arabicPeriod"/>
              <a:defRPr sz="1800" b="0">
                <a:solidFill>
                  <a:srgbClr val="3C3C3C"/>
                </a:solidFill>
              </a:defRPr>
            </a:pPr>
            <a:r>
              <a:t>Run tests: npm run test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AutoNum type="arabicPeriod"/>
              <a:defRPr sz="1800" b="0">
                <a:solidFill>
                  <a:srgbClr val="3C3C3C"/>
                </a:solidFill>
              </a:defRPr>
            </a:pPr>
            <a:r>
              <a:t>View report: npm run report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AutoNum type="arabicPeriod"/>
              <a:defRPr sz="1800" b="0">
                <a:solidFill>
                  <a:srgbClr val="3C3C3C"/>
                </a:solidFill>
              </a:defRPr>
            </a:pPr>
            <a:r>
              <a:rPr lang="en-US"/>
              <a:t>C</a:t>
            </a:r>
            <a:r>
              <a:t>heck README.md for detailed documentation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2C54"/>
            </a:gs>
            <a:gs pos="100000">
              <a:srgbClr val="194B96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CAF50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9525" y="5486400"/>
            <a:ext cx="48768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BCD4"/>
                </a:solidFill>
              </a:defRPr>
            </a:pPr>
            <a:r>
              <a:t>Playwright Framework |</a:t>
            </a:r>
            <a:r>
              <a:rPr lang="en-US"/>
              <a:t> Cinema Booking Platform 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2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3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4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5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6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7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8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9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10.xml><?xml version="1.0" encoding="utf-8"?>
<p:tagLst xmlns:p="http://schemas.openxmlformats.org/presentationml/2006/main">
  <p:tag name="KSO_WM_DIAGRAM_VIRTUALLY_FRAME" val="{&quot;height&quot;:342,&quot;left&quot;:57.6,&quot;top&quot;:111.6,&quot;width&quot;:604.8}"/>
</p:tagLst>
</file>

<file path=ppt/tags/tag11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12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13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14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15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16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17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18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19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20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21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22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23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24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25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ags/tag26.xml><?xml version="1.0" encoding="utf-8"?>
<p:tagLst xmlns:p="http://schemas.openxmlformats.org/presentationml/2006/main">
  <p:tag name="KSO_WM_DIAGRAM_VIRTUALLY_FRAME" val="{&quot;height&quot;:252,&quot;left&quot;:57.6,&quot;top&quot;:108,&quot;width&quot;:604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4872</Words>
  <Application>WPS Presentation</Application>
  <PresentationFormat>On-screen Show (4:3)</PresentationFormat>
  <Paragraphs>222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Arial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Administrator</cp:lastModifiedBy>
  <cp:revision>4</cp:revision>
  <dcterms:created xsi:type="dcterms:W3CDTF">2013-01-27T09:14:00Z</dcterms:created>
  <dcterms:modified xsi:type="dcterms:W3CDTF">2026-03-17T04:14:10Z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F6D24CB0A9AD4F1DBD57D1D53E8F9DEA_12</vt:lpwstr>
  </property>
  <property fmtid="{D5CDD505-2E9C-101B-9397-08002B2CF9AE}" pid="3" name="KSOProductBuildVer">
    <vt:lpwstr>1033-12.2.0.23197</vt:lpwstr>
  </property>
</Properties>
</file>